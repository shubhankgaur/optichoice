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3AA0F-19BC-449C-A21C-95949D0B7593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9CFA4-72FF-4763-9C04-72EE2AE5C2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839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F9CFA4-72FF-4763-9C04-72EE2AE5C2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9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234439"/>
            <a:ext cx="7315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2D2D2D"/>
                </a:solidFill>
                <a:latin typeface="Aptos"/>
              </a:rPr>
              <a:t>OptiChoice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93392"/>
            <a:ext cx="7315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FF4B00"/>
                </a:solidFill>
                <a:latin typeface="Aptos"/>
              </a:rPr>
              <a:t>Intelligent Decision Evaluation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496312"/>
            <a:ext cx="7132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5F5F5F"/>
                </a:solidFill>
                <a:latin typeface="Aptos"/>
              </a:rPr>
              <a:t>An AI-assisted multi-criteria decision support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3128772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4B00"/>
                </a:solidFill>
                <a:latin typeface="Aptos"/>
              </a:rPr>
              <a:t>Exploratory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7274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Supervisor: Dr. Preeti Saini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047488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Chitkara University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0C40E2-DC06-16AA-DEB5-B6E475081609}"/>
              </a:ext>
            </a:extLst>
          </p:cNvPr>
          <p:cNvSpPr txBox="1"/>
          <p:nvPr/>
        </p:nvSpPr>
        <p:spPr>
          <a:xfrm>
            <a:off x="621792" y="3511296"/>
            <a:ext cx="62179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100" b="1" dirty="0">
                <a:solidFill>
                  <a:srgbClr val="2D2D2D"/>
                </a:solidFill>
                <a:latin typeface="Aptos"/>
              </a:rPr>
              <a:t>Shubhank Gaur : 2310992530</a:t>
            </a:r>
          </a:p>
          <a:p>
            <a:r>
              <a:rPr lang="en-US" sz="1100" b="1" dirty="0">
                <a:solidFill>
                  <a:srgbClr val="2D2D2D"/>
                </a:solidFill>
                <a:latin typeface="Aptos"/>
              </a:rPr>
              <a:t>Rhythm Gaur : 2310992349</a:t>
            </a:r>
          </a:p>
          <a:p>
            <a:pPr algn="l"/>
            <a:r>
              <a:rPr sz="1100" b="1" dirty="0">
                <a:solidFill>
                  <a:srgbClr val="2D2D2D"/>
                </a:solidFill>
                <a:latin typeface="Aptos"/>
              </a:rPr>
              <a:t>Chirayu Mitra </a:t>
            </a:r>
            <a:r>
              <a:rPr lang="en-US" sz="1100" b="1" dirty="0">
                <a:solidFill>
                  <a:srgbClr val="2D2D2D"/>
                </a:solidFill>
                <a:latin typeface="Aptos"/>
              </a:rPr>
              <a:t>: 2310991558</a:t>
            </a:r>
          </a:p>
          <a:p>
            <a:pPr algn="l"/>
            <a:r>
              <a:rPr sz="1100" b="1" dirty="0">
                <a:solidFill>
                  <a:srgbClr val="2D2D2D"/>
                </a:solidFill>
                <a:latin typeface="Aptos"/>
              </a:rPr>
              <a:t>Yash Vardhan Singh</a:t>
            </a:r>
            <a:r>
              <a:rPr lang="en-US" sz="1100" b="1" dirty="0">
                <a:solidFill>
                  <a:srgbClr val="2D2D2D"/>
                </a:solidFill>
                <a:latin typeface="Aptos"/>
              </a:rPr>
              <a:t> : 2310992485</a:t>
            </a:r>
            <a:endParaRPr sz="1100" b="1" dirty="0">
              <a:solidFill>
                <a:srgbClr val="2D2D2D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"/>
              </a:rP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ptos"/>
              </a:rPr>
              <a:t>Why structured decision support is needed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5740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2057400"/>
            <a:ext cx="64008" cy="123444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2219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Multiple alternatives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87752"/>
            <a:ext cx="21488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Users often compare many options at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205740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0" y="2057400"/>
            <a:ext cx="64008" cy="1234440"/>
          </a:xfrm>
          <a:prstGeom prst="rect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47288" y="22219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Conflicting criteria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2587752"/>
            <a:ext cx="21488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Price, quality, performance and convenience can point in different directions.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97880" y="2057400"/>
            <a:ext cx="24688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97880" y="2057400"/>
            <a:ext cx="64008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9048" y="222199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Personal priorities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9048" y="2587752"/>
            <a:ext cx="2148840" cy="612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Different users assign different importance to the same criteria.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37033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4B00"/>
                </a:solidFill>
                <a:latin typeface="Aptos"/>
              </a:rPr>
              <a:t>CORE PROBLEM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4069080"/>
            <a:ext cx="80924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D2D2D"/>
                </a:solidFill>
                <a:latin typeface="Aptos"/>
              </a:rPr>
              <a:t>Manual comparisons, spreadsheets and generic AI recommendations can make it difficult to combine user priorities, compare alternatives consistently and understand why an option ranked higher.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5230368"/>
            <a:ext cx="8046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4B00"/>
                </a:solidFill>
                <a:latin typeface="Aptos"/>
              </a:rPr>
              <a:t>Goal: create a personalized, transparent and repeatable decision process.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5F5F"/>
                </a:solidFill>
                <a:latin typeface="Aptos"/>
              </a:rPr>
              <a:t>OptiChoice converts an informal decision into a structured workflow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148840"/>
            <a:ext cx="420624" cy="420624"/>
          </a:xfrm>
          <a:prstGeom prst="ellipse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1579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130552"/>
            <a:ext cx="13258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dirty="0">
                <a:solidFill>
                  <a:srgbClr val="2D2D2D"/>
                </a:solidFill>
                <a:latin typeface="Aptos"/>
              </a:rPr>
              <a:t>Define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1325879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dirty="0">
                <a:solidFill>
                  <a:srgbClr val="5F5F5F"/>
                </a:solidFill>
                <a:latin typeface="Aptos"/>
              </a:rPr>
              <a:t>Decision</a:t>
            </a:r>
            <a:r>
              <a:rPr lang="en-US" sz="1000" b="0" dirty="0">
                <a:solidFill>
                  <a:srgbClr val="5F5F5F"/>
                </a:solidFill>
                <a:latin typeface="Aptos"/>
              </a:rPr>
              <a:t>,</a:t>
            </a:r>
            <a:r>
              <a:rPr sz="1000" b="0" dirty="0">
                <a:solidFill>
                  <a:srgbClr val="5F5F5F"/>
                </a:solidFill>
                <a:latin typeface="Aptos"/>
              </a:rPr>
              <a:t> problem and alternatives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94560" y="2359152"/>
            <a:ext cx="457200" cy="0"/>
          </a:xfrm>
          <a:prstGeom prst="line">
            <a:avLst/>
          </a:prstGeom>
          <a:ln w="190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697479" y="2148840"/>
            <a:ext cx="420624" cy="420624"/>
          </a:xfrm>
          <a:prstGeom prst="ellipse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97479" y="21579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130552"/>
            <a:ext cx="13258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Prioritize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423160"/>
            <a:ext cx="1325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Criteria and importance weights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79" y="2359152"/>
            <a:ext cx="457200" cy="0"/>
          </a:xfrm>
          <a:prstGeom prst="line">
            <a:avLst/>
          </a:prstGeom>
          <a:ln w="190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4800600" y="2148840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21579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130552"/>
            <a:ext cx="13258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Evaluate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2423160"/>
            <a:ext cx="1325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Normalize values and calculate scores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0" y="2359152"/>
            <a:ext cx="457200" cy="0"/>
          </a:xfrm>
          <a:prstGeom prst="line">
            <a:avLst/>
          </a:prstGeom>
          <a:ln w="19050">
            <a:solidFill>
              <a:srgbClr val="A0A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6903720" y="2148840"/>
            <a:ext cx="420624" cy="420624"/>
          </a:xfrm>
          <a:prstGeom prst="ellipse">
            <a:avLst/>
          </a:prstGeom>
          <a:solidFill>
            <a:srgbClr val="794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03720" y="2157984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130552"/>
            <a:ext cx="132587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Explain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423160"/>
            <a:ext cx="13258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AI interpretation and trade-offs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840480"/>
            <a:ext cx="795527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840480"/>
            <a:ext cx="64008" cy="132588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528" y="4005072"/>
            <a:ext cx="7635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Core design principle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" y="4370832"/>
            <a:ext cx="7635240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The deterministic decision engine calculates the ranking. Generative AI interprets the structured result instead of silently replacing the calculation.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7406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  <a:latin typeface="Aptos"/>
              </a:defRPr>
            </a:pPr>
            <a:r>
              <a:t>• Web-based decision workspace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  <a:latin typeface="Aptos"/>
              </a:defRPr>
            </a:pPr>
            <a:r>
              <a:t>• Transparent score breakdown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  <a:latin typeface="Aptos"/>
              </a:defRPr>
            </a:pPr>
            <a:r>
              <a:t>• Interactive What-If analysis</a:t>
            </a:r>
          </a:p>
          <a:p>
            <a:pPr>
              <a:spcAft>
                <a:spcPts val="800"/>
              </a:spcAft>
              <a:defRPr sz="1100">
                <a:solidFill>
                  <a:srgbClr val="2D2D2D"/>
                </a:solidFill>
                <a:latin typeface="Aptos"/>
              </a:defRPr>
            </a:pPr>
            <a:r>
              <a:t>• History and report generation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"/>
              </a:rPr>
              <a:t>End-to-End Decision Processing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ptos"/>
              </a:rPr>
              <a:t>From user input to explainable recommendation</a:t>
            </a:r>
          </a:p>
        </p:txBody>
      </p:sp>
      <p:sp>
        <p:nvSpPr>
          <p:cNvPr id="7" name="Oval 6"/>
          <p:cNvSpPr/>
          <p:nvPr/>
        </p:nvSpPr>
        <p:spPr>
          <a:xfrm>
            <a:off x="530352" y="2057400"/>
            <a:ext cx="457200" cy="457200"/>
          </a:xfrm>
          <a:prstGeom prst="ellipse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207568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1" y="2624328"/>
            <a:ext cx="91440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dirty="0">
                <a:solidFill>
                  <a:srgbClr val="2D2D2D"/>
                </a:solidFill>
                <a:latin typeface="Aptos"/>
              </a:rPr>
              <a:t>Define </a:t>
            </a:r>
            <a:r>
              <a:rPr lang="en-US" sz="950" b="1" dirty="0">
                <a:solidFill>
                  <a:srgbClr val="2D2D2D"/>
                </a:solidFill>
                <a:latin typeface="Aptos"/>
              </a:rPr>
              <a:t>decision</a:t>
            </a:r>
            <a:endParaRPr sz="950" b="1" dirty="0">
              <a:solidFill>
                <a:srgbClr val="2D2D2D"/>
              </a:solidFill>
              <a:latin typeface="Aptos"/>
            </a:endParaRPr>
          </a:p>
        </p:txBody>
      </p:sp>
      <p:sp>
        <p:nvSpPr>
          <p:cNvPr id="10" name="Oval 9"/>
          <p:cNvSpPr/>
          <p:nvPr/>
        </p:nvSpPr>
        <p:spPr>
          <a:xfrm>
            <a:off x="2231136" y="2057400"/>
            <a:ext cx="457200" cy="457200"/>
          </a:xfrm>
          <a:prstGeom prst="ellipse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31136" y="207568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2536" y="2624328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Add alternatives</a:t>
            </a:r>
          </a:p>
        </p:txBody>
      </p:sp>
      <p:sp>
        <p:nvSpPr>
          <p:cNvPr id="13" name="Oval 12"/>
          <p:cNvSpPr/>
          <p:nvPr/>
        </p:nvSpPr>
        <p:spPr>
          <a:xfrm>
            <a:off x="3931920" y="205740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31920" y="207568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624328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Set criteria</a:t>
            </a:r>
          </a:p>
        </p:txBody>
      </p:sp>
      <p:sp>
        <p:nvSpPr>
          <p:cNvPr id="16" name="Oval 15"/>
          <p:cNvSpPr/>
          <p:nvPr/>
        </p:nvSpPr>
        <p:spPr>
          <a:xfrm>
            <a:off x="5632704" y="2057400"/>
            <a:ext cx="457200" cy="457200"/>
          </a:xfrm>
          <a:prstGeom prst="ellipse">
            <a:avLst/>
          </a:prstGeom>
          <a:solidFill>
            <a:srgbClr val="794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32704" y="207568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4104" y="2624328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Assign weights</a:t>
            </a:r>
          </a:p>
        </p:txBody>
      </p:sp>
      <p:sp>
        <p:nvSpPr>
          <p:cNvPr id="19" name="Oval 18"/>
          <p:cNvSpPr/>
          <p:nvPr/>
        </p:nvSpPr>
        <p:spPr>
          <a:xfrm>
            <a:off x="7333488" y="2057400"/>
            <a:ext cx="457200" cy="457200"/>
          </a:xfrm>
          <a:prstGeom prst="ellipse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33488" y="207568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4888" y="2624328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Enter values</a:t>
            </a:r>
          </a:p>
        </p:txBody>
      </p:sp>
      <p:sp>
        <p:nvSpPr>
          <p:cNvPr id="22" name="Oval 21"/>
          <p:cNvSpPr/>
          <p:nvPr/>
        </p:nvSpPr>
        <p:spPr>
          <a:xfrm>
            <a:off x="530352" y="3566160"/>
            <a:ext cx="457200" cy="457200"/>
          </a:xfrm>
          <a:prstGeom prst="ellipse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0352" y="358444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1" y="4133087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Normalize</a:t>
            </a:r>
          </a:p>
        </p:txBody>
      </p:sp>
      <p:sp>
        <p:nvSpPr>
          <p:cNvPr id="25" name="Oval 24"/>
          <p:cNvSpPr/>
          <p:nvPr/>
        </p:nvSpPr>
        <p:spPr>
          <a:xfrm>
            <a:off x="2231136" y="3566160"/>
            <a:ext cx="457200" cy="457200"/>
          </a:xfrm>
          <a:prstGeom prst="ellipse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31136" y="358444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02536" y="4133087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Score &amp; rank</a:t>
            </a:r>
          </a:p>
        </p:txBody>
      </p:sp>
      <p:sp>
        <p:nvSpPr>
          <p:cNvPr id="28" name="Oval 27"/>
          <p:cNvSpPr/>
          <p:nvPr/>
        </p:nvSpPr>
        <p:spPr>
          <a:xfrm>
            <a:off x="3931920" y="3566160"/>
            <a:ext cx="457200" cy="45720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31920" y="358444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4133087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AI analysis</a:t>
            </a:r>
          </a:p>
        </p:txBody>
      </p:sp>
      <p:sp>
        <p:nvSpPr>
          <p:cNvPr id="31" name="Oval 30"/>
          <p:cNvSpPr/>
          <p:nvPr/>
        </p:nvSpPr>
        <p:spPr>
          <a:xfrm>
            <a:off x="5632704" y="3566160"/>
            <a:ext cx="457200" cy="457200"/>
          </a:xfrm>
          <a:prstGeom prst="ellipse">
            <a:avLst/>
          </a:prstGeom>
          <a:solidFill>
            <a:srgbClr val="794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32704" y="3584448"/>
            <a:ext cx="457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4104" y="4133087"/>
            <a:ext cx="9144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2D2D2D"/>
                </a:solidFill>
                <a:latin typeface="Aptos"/>
              </a:rPr>
              <a:t>What-If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5166360"/>
            <a:ext cx="37490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94360" y="5166360"/>
            <a:ext cx="64008" cy="91440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95528" y="5330952"/>
            <a:ext cx="34289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Deterministic lane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8" y="5696712"/>
            <a:ext cx="3428999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Validation → normalization → weighted scoring → ranking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5166360"/>
            <a:ext cx="3977639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572000" y="5166360"/>
            <a:ext cx="64008" cy="914400"/>
          </a:xfrm>
          <a:prstGeom prst="rect">
            <a:avLst/>
          </a:prstGeom>
          <a:solidFill>
            <a:srgbClr val="794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73168" y="5330952"/>
            <a:ext cx="36575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Intelligence lane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5696712"/>
            <a:ext cx="3657599" cy="2926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Structured result → AI explanation → What-If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"/>
              </a:rPr>
              <a:t>Working Example — Laptop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ptos"/>
              </a:rPr>
              <a:t>A simple example of how priorities affect the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33172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64008" cy="352044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0116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Decision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96312"/>
            <a:ext cx="2011679" cy="28986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Alternatives:
MacBook • Dell • HP
Criteria:
Performance — 35%
Battery — 25%
Price — 20%
Portability — 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057400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5F5F"/>
                </a:solidFill>
                <a:latin typeface="Aptos"/>
              </a:rPr>
              <a:t>Laptop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57400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5F5F"/>
                </a:solidFill>
                <a:latin typeface="Aptos"/>
              </a:rP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2057400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5F5F"/>
                </a:solidFill>
                <a:latin typeface="Aptos"/>
              </a:rPr>
              <a:t>Battery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057400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5F5F"/>
                </a:solidFill>
                <a:latin typeface="Aptos"/>
              </a:rPr>
              <a:t>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057400"/>
            <a:ext cx="1051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5F5F5F"/>
                </a:solidFill>
                <a:latin typeface="Aptos"/>
              </a:rPr>
              <a:t>Portability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6974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Aptos"/>
              </a:rPr>
              <a:t>MacBook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6974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4B00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6974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4B00"/>
                </a:solidFill>
                <a:latin typeface="Aptos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26974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4B00"/>
                </a:solidFill>
                <a:latin typeface="Aptos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6974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4B00"/>
                </a:solidFill>
                <a:latin typeface="Aptos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33832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Aptos"/>
              </a:rPr>
              <a:t>Dell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3832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5EA1"/>
                </a:solidFill>
                <a:latin typeface="Aptos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33832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5EA1"/>
                </a:solidFill>
                <a:latin typeface="Aptos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3832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5EA1"/>
                </a:solidFill>
                <a:latin typeface="Aptos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33832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15EA1"/>
                </a:solidFill>
                <a:latin typeface="Aptos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0690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2D2D2D"/>
                </a:solidFill>
                <a:latin typeface="Aptos"/>
              </a:rPr>
              <a:t>HP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0690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pto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40690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pto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40690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ptos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069080"/>
            <a:ext cx="1051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2E7D32"/>
                </a:solidFill>
                <a:latin typeface="Aptos"/>
              </a:rP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89204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4B00"/>
                </a:solidFill>
                <a:latin typeface="Aptos"/>
              </a:rPr>
              <a:t>User-provided ratings → normalization → weighted score → ranking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376672"/>
            <a:ext cx="5166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5F5F5F"/>
                </a:solidFill>
                <a:latin typeface="Aptos"/>
              </a:rPr>
              <a:t>The example is illustrative; the beta relies on user-provided or estimated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"/>
              </a:rPr>
              <a:t>Multi-Criteria Decision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ptos"/>
              </a:rPr>
              <a:t>The mathematical core is deterministic and reproducible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6576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64008" cy="141732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Weighted scoring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96312"/>
            <a:ext cx="333756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Score(Aj) = Σ [ wi × vij ]
wi = normalized criterion weight
vij = normalized performance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993392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4B00"/>
                </a:solidFill>
                <a:latin typeface="Aptos"/>
              </a:rPr>
              <a:t>PROCESS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423160"/>
            <a:ext cx="420624" cy="420624"/>
          </a:xfrm>
          <a:prstGeom prst="ellipse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2432303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2404872"/>
            <a:ext cx="320039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Normalize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59" y="2697479"/>
            <a:ext cx="320039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Convert criteria to comparable scales</a:t>
            </a:r>
          </a:p>
        </p:txBody>
      </p:sp>
      <p:sp>
        <p:nvSpPr>
          <p:cNvPr id="16" name="Oval 15"/>
          <p:cNvSpPr/>
          <p:nvPr/>
        </p:nvSpPr>
        <p:spPr>
          <a:xfrm>
            <a:off x="4617720" y="3209544"/>
            <a:ext cx="420624" cy="420624"/>
          </a:xfrm>
          <a:prstGeom prst="ellipse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3218687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59" y="3191256"/>
            <a:ext cx="320039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59" y="3483863"/>
            <a:ext cx="320039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Apply user-defined importance</a:t>
            </a:r>
          </a:p>
        </p:txBody>
      </p:sp>
      <p:sp>
        <p:nvSpPr>
          <p:cNvPr id="20" name="Oval 19"/>
          <p:cNvSpPr/>
          <p:nvPr/>
        </p:nvSpPr>
        <p:spPr>
          <a:xfrm>
            <a:off x="4617720" y="3995928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4005072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3977640"/>
            <a:ext cx="320039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Aggregate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4270248"/>
            <a:ext cx="320039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Sum weighted contributions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4782312"/>
            <a:ext cx="420624" cy="420624"/>
          </a:xfrm>
          <a:prstGeom prst="ellipse">
            <a:avLst/>
          </a:prstGeom>
          <a:solidFill>
            <a:srgbClr val="794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17720" y="4791456"/>
            <a:ext cx="420624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4764024"/>
            <a:ext cx="3200399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2D2D2D"/>
                </a:solidFill>
                <a:latin typeface="Aptos"/>
              </a:rPr>
              <a:t>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5056632"/>
            <a:ext cx="320039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F5F5F"/>
                </a:solidFill>
                <a:latin typeface="Aptos"/>
              </a:rPr>
              <a:t>Order alternatives by score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3794760"/>
            <a:ext cx="3657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4360" y="3794760"/>
            <a:ext cx="64008" cy="1600200"/>
          </a:xfrm>
          <a:prstGeom prst="rect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95528" y="3959352"/>
            <a:ext cx="3337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Why this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325112"/>
            <a:ext cx="3337560" cy="9784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Different units and directions can be compared fairly after normalization. The same inputs always produce the same calculated ranking.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F92956D-5CE1-EE4A-8B4A-66A392E607AD}"/>
              </a:ext>
            </a:extLst>
          </p:cNvPr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hitkara_logo_crop.png">
            <a:extLst>
              <a:ext uri="{FF2B5EF4-FFF2-40B4-BE49-F238E27FC236}">
                <a16:creationId xmlns:a16="http://schemas.microsoft.com/office/drawing/2014/main" id="{8F86F4C9-177F-67B7-D1B9-55CCC43C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244C5E5-65F1-5A89-46F7-770475D2CE3D}"/>
              </a:ext>
            </a:extLst>
          </p:cNvPr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48F4C5-4187-F04F-AB6D-934E16C40CEB}"/>
              </a:ext>
            </a:extLst>
          </p:cNvPr>
          <p:cNvSpPr txBox="1"/>
          <p:nvPr/>
        </p:nvSpPr>
        <p:spPr>
          <a:xfrm>
            <a:off x="280414" y="1092192"/>
            <a:ext cx="626516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solidFill>
                  <a:srgbClr val="2D2D2D"/>
                </a:solidFill>
                <a:latin typeface="Aptos"/>
              </a:rPr>
              <a:t>Technology Stack &amp; System Architecture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04E241-4557-A624-0C2A-D93C6605A298}"/>
              </a:ext>
            </a:extLst>
          </p:cNvPr>
          <p:cNvSpPr txBox="1"/>
          <p:nvPr/>
        </p:nvSpPr>
        <p:spPr>
          <a:xfrm>
            <a:off x="393192" y="1609344"/>
            <a:ext cx="7680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50" b="0">
                <a:solidFill>
                  <a:srgbClr val="556478"/>
                </a:solidFill>
                <a:latin typeface="Aptos"/>
              </a:rPr>
              <a:t>Layered architecture connecting client workspace, REST backend, engines, and cloud persistence</a:t>
            </a:r>
          </a:p>
        </p:txBody>
      </p:sp>
      <p:sp>
        <p:nvSpPr>
          <p:cNvPr id="63" name="Rounded Rectangle 11">
            <a:extLst>
              <a:ext uri="{FF2B5EF4-FFF2-40B4-BE49-F238E27FC236}">
                <a16:creationId xmlns:a16="http://schemas.microsoft.com/office/drawing/2014/main" id="{4C0A1F7B-4363-C24B-06F0-0B40B3B260BD}"/>
              </a:ext>
            </a:extLst>
          </p:cNvPr>
          <p:cNvSpPr/>
          <p:nvPr/>
        </p:nvSpPr>
        <p:spPr>
          <a:xfrm>
            <a:off x="2782823" y="1942592"/>
            <a:ext cx="1938528" cy="201168"/>
          </a:xfrm>
          <a:prstGeom prst="roundRect">
            <a:avLst/>
          </a:prstGeom>
          <a:solidFill>
            <a:srgbClr val="141D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C0D1D00-09AA-F12A-4A8A-15B2455B2A02}"/>
              </a:ext>
            </a:extLst>
          </p:cNvPr>
          <p:cNvSpPr txBox="1"/>
          <p:nvPr/>
        </p:nvSpPr>
        <p:spPr>
          <a:xfrm>
            <a:off x="2929128" y="1974596"/>
            <a:ext cx="1645920" cy="118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0" b="1">
                <a:solidFill>
                  <a:srgbClr val="FFFFFF"/>
                </a:solidFill>
                <a:latin typeface="Aptos"/>
              </a:rPr>
              <a:t>♟  USER INTERFACE CLIENT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39F0054-ECFA-3A61-0B9F-BC27A7441607}"/>
              </a:ext>
            </a:extLst>
          </p:cNvPr>
          <p:cNvSpPr/>
          <p:nvPr/>
        </p:nvSpPr>
        <p:spPr>
          <a:xfrm>
            <a:off x="3777996" y="2237232"/>
            <a:ext cx="9144" cy="137160"/>
          </a:xfrm>
          <a:prstGeom prst="rect">
            <a:avLst/>
          </a:prstGeom>
          <a:solidFill>
            <a:srgbClr val="B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9CBB8BB-2ADF-F26A-DDD3-5C63F8DE61A9}"/>
              </a:ext>
            </a:extLst>
          </p:cNvPr>
          <p:cNvSpPr/>
          <p:nvPr/>
        </p:nvSpPr>
        <p:spPr>
          <a:xfrm>
            <a:off x="3768852" y="3025140"/>
            <a:ext cx="9144" cy="137160"/>
          </a:xfrm>
          <a:prstGeom prst="rect">
            <a:avLst/>
          </a:prstGeom>
          <a:solidFill>
            <a:srgbClr val="B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7BAF90FD-D167-1E4E-366F-62C402B56B58}"/>
              </a:ext>
            </a:extLst>
          </p:cNvPr>
          <p:cNvSpPr/>
          <p:nvPr/>
        </p:nvSpPr>
        <p:spPr>
          <a:xfrm>
            <a:off x="3756660" y="3917696"/>
            <a:ext cx="9144" cy="137160"/>
          </a:xfrm>
          <a:prstGeom prst="rect">
            <a:avLst/>
          </a:prstGeom>
          <a:solidFill>
            <a:srgbClr val="B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30185C6-6215-F3B3-E030-85CA5A4E0D24}"/>
              </a:ext>
            </a:extLst>
          </p:cNvPr>
          <p:cNvSpPr/>
          <p:nvPr/>
        </p:nvSpPr>
        <p:spPr>
          <a:xfrm>
            <a:off x="3742943" y="4815840"/>
            <a:ext cx="9144" cy="137160"/>
          </a:xfrm>
          <a:prstGeom prst="rect">
            <a:avLst/>
          </a:prstGeom>
          <a:solidFill>
            <a:srgbClr val="BEC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D958C0E1-FA57-7905-E804-9224F1C51DE5}"/>
              </a:ext>
            </a:extLst>
          </p:cNvPr>
          <p:cNvSpPr/>
          <p:nvPr/>
        </p:nvSpPr>
        <p:spPr>
          <a:xfrm>
            <a:off x="85344" y="2423160"/>
            <a:ext cx="6838189" cy="475488"/>
          </a:xfrm>
          <a:prstGeom prst="roundRect">
            <a:avLst/>
          </a:prstGeom>
          <a:solidFill>
            <a:srgbClr val="F6FAFF"/>
          </a:solidFill>
          <a:ln w="7315">
            <a:solidFill>
              <a:srgbClr val="5B9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B845ABF-DF86-E8BE-5349-2CDDAC48342F}"/>
              </a:ext>
            </a:extLst>
          </p:cNvPr>
          <p:cNvSpPr txBox="1"/>
          <p:nvPr/>
        </p:nvSpPr>
        <p:spPr>
          <a:xfrm>
            <a:off x="248412" y="2496312"/>
            <a:ext cx="1828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1" dirty="0">
                <a:solidFill>
                  <a:srgbClr val="2B5DD6"/>
                </a:solidFill>
                <a:latin typeface="Aptos"/>
              </a:rPr>
              <a:t>▣  FRONTEND LAYER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902EEC-F69D-45B8-B964-5F299897AEBC}"/>
              </a:ext>
            </a:extLst>
          </p:cNvPr>
          <p:cNvSpPr txBox="1"/>
          <p:nvPr/>
        </p:nvSpPr>
        <p:spPr>
          <a:xfrm>
            <a:off x="5079239" y="2491740"/>
            <a:ext cx="187451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dirty="0">
                <a:solidFill>
                  <a:srgbClr val="465469"/>
                </a:solidFill>
                <a:latin typeface="Aptos"/>
              </a:rPr>
              <a:t>React.js + TypeScript | Tailwind CSS + Recharts</a:t>
            </a:r>
          </a:p>
        </p:txBody>
      </p:sp>
      <p:sp>
        <p:nvSpPr>
          <p:cNvPr id="81" name="Rounded Rectangle 20">
            <a:extLst>
              <a:ext uri="{FF2B5EF4-FFF2-40B4-BE49-F238E27FC236}">
                <a16:creationId xmlns:a16="http://schemas.microsoft.com/office/drawing/2014/main" id="{39A79C1E-32D2-B358-4803-539383E872E9}"/>
              </a:ext>
            </a:extLst>
          </p:cNvPr>
          <p:cNvSpPr/>
          <p:nvPr/>
        </p:nvSpPr>
        <p:spPr>
          <a:xfrm>
            <a:off x="266700" y="2697480"/>
            <a:ext cx="1490472" cy="146304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B44E7B3-4CC3-4D4B-C4E8-98E97E00AE10}"/>
              </a:ext>
            </a:extLst>
          </p:cNvPr>
          <p:cNvSpPr txBox="1"/>
          <p:nvPr/>
        </p:nvSpPr>
        <p:spPr>
          <a:xfrm>
            <a:off x="303276" y="2720340"/>
            <a:ext cx="1417319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70" b="1">
                <a:solidFill>
                  <a:srgbClr val="315BA5"/>
                </a:solidFill>
                <a:latin typeface="Aptos"/>
              </a:rPr>
              <a:t>✓Interactive Workspace</a:t>
            </a:r>
          </a:p>
        </p:txBody>
      </p:sp>
      <p:sp>
        <p:nvSpPr>
          <p:cNvPr id="85" name="Rounded Rectangle 22">
            <a:extLst>
              <a:ext uri="{FF2B5EF4-FFF2-40B4-BE49-F238E27FC236}">
                <a16:creationId xmlns:a16="http://schemas.microsoft.com/office/drawing/2014/main" id="{7BC227B4-070A-5D80-2F25-DC98DAA13DF1}"/>
              </a:ext>
            </a:extLst>
          </p:cNvPr>
          <p:cNvSpPr/>
          <p:nvPr/>
        </p:nvSpPr>
        <p:spPr>
          <a:xfrm>
            <a:off x="1802892" y="2697480"/>
            <a:ext cx="1097280" cy="146304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BA4AC9-1216-247F-D312-1167012A3636}"/>
              </a:ext>
            </a:extLst>
          </p:cNvPr>
          <p:cNvSpPr txBox="1"/>
          <p:nvPr/>
        </p:nvSpPr>
        <p:spPr>
          <a:xfrm>
            <a:off x="1839468" y="2720340"/>
            <a:ext cx="1024127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70" b="1">
                <a:solidFill>
                  <a:srgbClr val="315BA5"/>
                </a:solidFill>
                <a:latin typeface="Aptos"/>
              </a:rPr>
              <a:t>✓Weight Sliders</a:t>
            </a:r>
          </a:p>
        </p:txBody>
      </p:sp>
      <p:sp>
        <p:nvSpPr>
          <p:cNvPr id="89" name="Rounded Rectangle 24">
            <a:extLst>
              <a:ext uri="{FF2B5EF4-FFF2-40B4-BE49-F238E27FC236}">
                <a16:creationId xmlns:a16="http://schemas.microsoft.com/office/drawing/2014/main" id="{8E8DC7DD-9D1D-782B-559E-B974B1C5AC29}"/>
              </a:ext>
            </a:extLst>
          </p:cNvPr>
          <p:cNvSpPr/>
          <p:nvPr/>
        </p:nvSpPr>
        <p:spPr>
          <a:xfrm>
            <a:off x="2945892" y="2697480"/>
            <a:ext cx="1325880" cy="146304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2094AE3-580C-9365-A709-22EB1BA3B386}"/>
              </a:ext>
            </a:extLst>
          </p:cNvPr>
          <p:cNvSpPr txBox="1"/>
          <p:nvPr/>
        </p:nvSpPr>
        <p:spPr>
          <a:xfrm>
            <a:off x="2982468" y="2720340"/>
            <a:ext cx="1252728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70" b="1">
                <a:solidFill>
                  <a:srgbClr val="315BA5"/>
                </a:solidFill>
                <a:latin typeface="Aptos"/>
              </a:rPr>
              <a:t>✓Live What-if Visuals</a:t>
            </a:r>
          </a:p>
        </p:txBody>
      </p:sp>
      <p:sp>
        <p:nvSpPr>
          <p:cNvPr id="93" name="Rounded Rectangle 26">
            <a:extLst>
              <a:ext uri="{FF2B5EF4-FFF2-40B4-BE49-F238E27FC236}">
                <a16:creationId xmlns:a16="http://schemas.microsoft.com/office/drawing/2014/main" id="{CC79BFAE-E043-6952-ED92-3446425BDC3E}"/>
              </a:ext>
            </a:extLst>
          </p:cNvPr>
          <p:cNvSpPr/>
          <p:nvPr/>
        </p:nvSpPr>
        <p:spPr>
          <a:xfrm>
            <a:off x="65532" y="3291840"/>
            <a:ext cx="6838189" cy="475488"/>
          </a:xfrm>
          <a:prstGeom prst="roundRect">
            <a:avLst/>
          </a:prstGeom>
          <a:solidFill>
            <a:srgbClr val="F6FFFB"/>
          </a:solidFill>
          <a:ln w="7315">
            <a:solidFill>
              <a:srgbClr val="3AC1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6F84F85-36B8-E0A0-6A62-1426DFEC00D6}"/>
              </a:ext>
            </a:extLst>
          </p:cNvPr>
          <p:cNvSpPr txBox="1"/>
          <p:nvPr/>
        </p:nvSpPr>
        <p:spPr>
          <a:xfrm>
            <a:off x="248412" y="3374136"/>
            <a:ext cx="1828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19" b="1">
                <a:solidFill>
                  <a:srgbClr val="138160"/>
                </a:solidFill>
                <a:latin typeface="Aptos"/>
              </a:rPr>
              <a:t>▣  BACKEND &amp; API LAYER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0467C17-53B5-C249-86E5-0FD5632A8272}"/>
              </a:ext>
            </a:extLst>
          </p:cNvPr>
          <p:cNvSpPr txBox="1"/>
          <p:nvPr/>
        </p:nvSpPr>
        <p:spPr>
          <a:xfrm>
            <a:off x="5079239" y="3339838"/>
            <a:ext cx="1828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 dirty="0">
                <a:solidFill>
                  <a:srgbClr val="465469"/>
                </a:solidFill>
                <a:latin typeface="Aptos"/>
              </a:rPr>
              <a:t>Node.js + Express.js | RESTful API Endpoints</a:t>
            </a:r>
          </a:p>
        </p:txBody>
      </p:sp>
      <p:sp>
        <p:nvSpPr>
          <p:cNvPr id="99" name="Rounded Rectangle 29">
            <a:extLst>
              <a:ext uri="{FF2B5EF4-FFF2-40B4-BE49-F238E27FC236}">
                <a16:creationId xmlns:a16="http://schemas.microsoft.com/office/drawing/2014/main" id="{AC014C53-B21C-B44D-4828-886B7AF1D716}"/>
              </a:ext>
            </a:extLst>
          </p:cNvPr>
          <p:cNvSpPr/>
          <p:nvPr/>
        </p:nvSpPr>
        <p:spPr>
          <a:xfrm>
            <a:off x="266700" y="3529584"/>
            <a:ext cx="1143000" cy="146304"/>
          </a:xfrm>
          <a:prstGeom prst="roundRect">
            <a:avLst/>
          </a:prstGeom>
          <a:solidFill>
            <a:srgbClr val="DC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E6A8009-409A-329A-6851-4B5101C575E1}"/>
              </a:ext>
            </a:extLst>
          </p:cNvPr>
          <p:cNvSpPr txBox="1"/>
          <p:nvPr/>
        </p:nvSpPr>
        <p:spPr>
          <a:xfrm>
            <a:off x="303276" y="3552444"/>
            <a:ext cx="1069848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70" b="1">
                <a:solidFill>
                  <a:srgbClr val="19765B"/>
                </a:solidFill>
                <a:latin typeface="Aptos"/>
              </a:rPr>
              <a:t>✓API Validation</a:t>
            </a:r>
          </a:p>
        </p:txBody>
      </p:sp>
      <p:sp>
        <p:nvSpPr>
          <p:cNvPr id="103" name="Rounded Rectangle 31">
            <a:extLst>
              <a:ext uri="{FF2B5EF4-FFF2-40B4-BE49-F238E27FC236}">
                <a16:creationId xmlns:a16="http://schemas.microsoft.com/office/drawing/2014/main" id="{6F4D4BAD-C08C-6ADA-BC27-95B6C77762F5}"/>
              </a:ext>
            </a:extLst>
          </p:cNvPr>
          <p:cNvSpPr/>
          <p:nvPr/>
        </p:nvSpPr>
        <p:spPr>
          <a:xfrm>
            <a:off x="1455420" y="3529584"/>
            <a:ext cx="1143000" cy="146304"/>
          </a:xfrm>
          <a:prstGeom prst="roundRect">
            <a:avLst/>
          </a:prstGeom>
          <a:solidFill>
            <a:srgbClr val="DC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8E76FFE-4414-9F28-FD43-0BFE2C9BA66E}"/>
              </a:ext>
            </a:extLst>
          </p:cNvPr>
          <p:cNvSpPr txBox="1"/>
          <p:nvPr/>
        </p:nvSpPr>
        <p:spPr>
          <a:xfrm>
            <a:off x="1491996" y="3552444"/>
            <a:ext cx="1069848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70" b="1">
                <a:solidFill>
                  <a:srgbClr val="19765B"/>
                </a:solidFill>
                <a:latin typeface="Aptos"/>
              </a:rPr>
              <a:t>✓Auth Middleware</a:t>
            </a:r>
          </a:p>
        </p:txBody>
      </p:sp>
      <p:sp>
        <p:nvSpPr>
          <p:cNvPr id="107" name="Rounded Rectangle 33">
            <a:extLst>
              <a:ext uri="{FF2B5EF4-FFF2-40B4-BE49-F238E27FC236}">
                <a16:creationId xmlns:a16="http://schemas.microsoft.com/office/drawing/2014/main" id="{AEFA7BF0-1C44-4EDF-D0B1-8BBA94037F3E}"/>
              </a:ext>
            </a:extLst>
          </p:cNvPr>
          <p:cNvSpPr/>
          <p:nvPr/>
        </p:nvSpPr>
        <p:spPr>
          <a:xfrm>
            <a:off x="2644140" y="3529584"/>
            <a:ext cx="1444752" cy="146304"/>
          </a:xfrm>
          <a:prstGeom prst="roundRect">
            <a:avLst/>
          </a:prstGeom>
          <a:solidFill>
            <a:srgbClr val="DC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3AE4086A-1A0C-BA24-9C6C-8F3B9EE4EB1F}"/>
              </a:ext>
            </a:extLst>
          </p:cNvPr>
          <p:cNvSpPr txBox="1"/>
          <p:nvPr/>
        </p:nvSpPr>
        <p:spPr>
          <a:xfrm>
            <a:off x="2680716" y="3552444"/>
            <a:ext cx="1371600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70" b="1">
                <a:solidFill>
                  <a:srgbClr val="19765B"/>
                </a:solidFill>
                <a:latin typeface="Aptos"/>
              </a:rPr>
              <a:t>✓Business Logic Router</a:t>
            </a:r>
          </a:p>
        </p:txBody>
      </p:sp>
      <p:sp>
        <p:nvSpPr>
          <p:cNvPr id="111" name="Rounded Rectangle 35">
            <a:extLst>
              <a:ext uri="{FF2B5EF4-FFF2-40B4-BE49-F238E27FC236}">
                <a16:creationId xmlns:a16="http://schemas.microsoft.com/office/drawing/2014/main" id="{FE3C2128-8CE1-79CF-6051-4BFDE8543532}"/>
              </a:ext>
            </a:extLst>
          </p:cNvPr>
          <p:cNvSpPr/>
          <p:nvPr/>
        </p:nvSpPr>
        <p:spPr>
          <a:xfrm>
            <a:off x="667512" y="4177284"/>
            <a:ext cx="2880360" cy="566928"/>
          </a:xfrm>
          <a:prstGeom prst="roundRect">
            <a:avLst/>
          </a:prstGeom>
          <a:solidFill>
            <a:srgbClr val="FFFBF1"/>
          </a:solidFill>
          <a:ln w="7315">
            <a:solidFill>
              <a:srgbClr val="FFA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13E9799-A002-B7D8-C549-53A0FC9014C9}"/>
              </a:ext>
            </a:extLst>
          </p:cNvPr>
          <p:cNvSpPr txBox="1"/>
          <p:nvPr/>
        </p:nvSpPr>
        <p:spPr>
          <a:xfrm>
            <a:off x="771144" y="4189476"/>
            <a:ext cx="146304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B76510"/>
                </a:solidFill>
                <a:latin typeface="Aptos"/>
              </a:rPr>
              <a:t>☷  DECISION ENGINE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92A7F01-224F-7436-E9FE-A1DEE085CFBB}"/>
              </a:ext>
            </a:extLst>
          </p:cNvPr>
          <p:cNvSpPr txBox="1"/>
          <p:nvPr/>
        </p:nvSpPr>
        <p:spPr>
          <a:xfrm>
            <a:off x="771144" y="4363212"/>
            <a:ext cx="1280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1">
                <a:solidFill>
                  <a:srgbClr val="7D5220"/>
                </a:solidFill>
                <a:latin typeface="Aptos"/>
              </a:rPr>
              <a:t>Deterministic Core</a:t>
            </a:r>
          </a:p>
        </p:txBody>
      </p:sp>
      <p:sp>
        <p:nvSpPr>
          <p:cNvPr id="117" name="Rounded Rectangle 38">
            <a:extLst>
              <a:ext uri="{FF2B5EF4-FFF2-40B4-BE49-F238E27FC236}">
                <a16:creationId xmlns:a16="http://schemas.microsoft.com/office/drawing/2014/main" id="{25B79A2A-EE4C-2583-1C61-D0001962F861}"/>
              </a:ext>
            </a:extLst>
          </p:cNvPr>
          <p:cNvSpPr/>
          <p:nvPr/>
        </p:nvSpPr>
        <p:spPr>
          <a:xfrm>
            <a:off x="789432" y="4527804"/>
            <a:ext cx="1051560" cy="155448"/>
          </a:xfrm>
          <a:prstGeom prst="roundRect">
            <a:avLst/>
          </a:prstGeom>
          <a:solidFill>
            <a:srgbClr val="FFE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C1F9C34-77DF-1AE4-A307-D7F1BDD20DA7}"/>
              </a:ext>
            </a:extLst>
          </p:cNvPr>
          <p:cNvSpPr txBox="1"/>
          <p:nvPr/>
        </p:nvSpPr>
        <p:spPr>
          <a:xfrm>
            <a:off x="807720" y="4555236"/>
            <a:ext cx="1014983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" b="1">
                <a:solidFill>
                  <a:srgbClr val="A7681C"/>
                </a:solidFill>
                <a:latin typeface="Aptos"/>
              </a:rPr>
              <a:t>Normalization</a:t>
            </a:r>
          </a:p>
        </p:txBody>
      </p:sp>
      <p:sp>
        <p:nvSpPr>
          <p:cNvPr id="121" name="Rounded Rectangle 40">
            <a:extLst>
              <a:ext uri="{FF2B5EF4-FFF2-40B4-BE49-F238E27FC236}">
                <a16:creationId xmlns:a16="http://schemas.microsoft.com/office/drawing/2014/main" id="{B938A957-991F-223D-7DDE-1646FDB5994A}"/>
              </a:ext>
            </a:extLst>
          </p:cNvPr>
          <p:cNvSpPr/>
          <p:nvPr/>
        </p:nvSpPr>
        <p:spPr>
          <a:xfrm>
            <a:off x="1905000" y="4527804"/>
            <a:ext cx="960120" cy="155448"/>
          </a:xfrm>
          <a:prstGeom prst="roundRect">
            <a:avLst/>
          </a:prstGeom>
          <a:solidFill>
            <a:srgbClr val="FFEC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E476565-BB70-2AFD-6364-4B1F5CB99E4D}"/>
              </a:ext>
            </a:extLst>
          </p:cNvPr>
          <p:cNvSpPr txBox="1"/>
          <p:nvPr/>
        </p:nvSpPr>
        <p:spPr>
          <a:xfrm>
            <a:off x="1923288" y="4555236"/>
            <a:ext cx="923544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" b="1">
                <a:solidFill>
                  <a:srgbClr val="A7681C"/>
                </a:solidFill>
                <a:latin typeface="Aptos"/>
              </a:rPr>
              <a:t>Weighted Sum</a:t>
            </a:r>
          </a:p>
        </p:txBody>
      </p:sp>
      <p:sp>
        <p:nvSpPr>
          <p:cNvPr id="125" name="Rounded Rectangle 42">
            <a:extLst>
              <a:ext uri="{FF2B5EF4-FFF2-40B4-BE49-F238E27FC236}">
                <a16:creationId xmlns:a16="http://schemas.microsoft.com/office/drawing/2014/main" id="{D3FDA097-707F-9F04-CEE5-91322257B7C6}"/>
              </a:ext>
            </a:extLst>
          </p:cNvPr>
          <p:cNvSpPr/>
          <p:nvPr/>
        </p:nvSpPr>
        <p:spPr>
          <a:xfrm>
            <a:off x="3901441" y="4165092"/>
            <a:ext cx="2880360" cy="566928"/>
          </a:xfrm>
          <a:prstGeom prst="roundRect">
            <a:avLst/>
          </a:prstGeom>
          <a:solidFill>
            <a:srgbClr val="FAF8FF"/>
          </a:solidFill>
          <a:ln w="7315">
            <a:solidFill>
              <a:srgbClr val="875D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9F29DFF-4F0E-E8CF-E3B7-D307054ED7DA}"/>
              </a:ext>
            </a:extLst>
          </p:cNvPr>
          <p:cNvSpPr txBox="1"/>
          <p:nvPr/>
        </p:nvSpPr>
        <p:spPr>
          <a:xfrm>
            <a:off x="4072128" y="4195572"/>
            <a:ext cx="164592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 b="1">
                <a:solidFill>
                  <a:srgbClr val="6739CD"/>
                </a:solidFill>
                <a:latin typeface="Aptos"/>
              </a:rPr>
              <a:t>◈  AI INTEGRATION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C6E784F-1E93-A587-0CC5-948806081024}"/>
              </a:ext>
            </a:extLst>
          </p:cNvPr>
          <p:cNvSpPr txBox="1"/>
          <p:nvPr/>
        </p:nvSpPr>
        <p:spPr>
          <a:xfrm>
            <a:off x="4072128" y="4369308"/>
            <a:ext cx="1280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20" b="1">
                <a:solidFill>
                  <a:srgbClr val="563D91"/>
                </a:solidFill>
                <a:latin typeface="Aptos"/>
              </a:rPr>
              <a:t>Generative AI API</a:t>
            </a:r>
          </a:p>
        </p:txBody>
      </p:sp>
      <p:sp>
        <p:nvSpPr>
          <p:cNvPr id="131" name="Rounded Rectangle 45">
            <a:extLst>
              <a:ext uri="{FF2B5EF4-FFF2-40B4-BE49-F238E27FC236}">
                <a16:creationId xmlns:a16="http://schemas.microsoft.com/office/drawing/2014/main" id="{745D3E89-E586-EDE7-3BAF-121C281FAA0D}"/>
              </a:ext>
            </a:extLst>
          </p:cNvPr>
          <p:cNvSpPr/>
          <p:nvPr/>
        </p:nvSpPr>
        <p:spPr>
          <a:xfrm>
            <a:off x="4090416" y="4533900"/>
            <a:ext cx="941832" cy="155448"/>
          </a:xfrm>
          <a:prstGeom prst="round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CB2BC5BE-6AE8-2D8F-A4CE-B73ECE241BED}"/>
              </a:ext>
            </a:extLst>
          </p:cNvPr>
          <p:cNvSpPr txBox="1"/>
          <p:nvPr/>
        </p:nvSpPr>
        <p:spPr>
          <a:xfrm>
            <a:off x="4108703" y="4561332"/>
            <a:ext cx="905256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" b="1">
                <a:solidFill>
                  <a:srgbClr val="684CA6"/>
                </a:solidFill>
                <a:latin typeface="Aptos"/>
              </a:rPr>
              <a:t>Explanations</a:t>
            </a:r>
          </a:p>
        </p:txBody>
      </p:sp>
      <p:sp>
        <p:nvSpPr>
          <p:cNvPr id="135" name="Rounded Rectangle 47">
            <a:extLst>
              <a:ext uri="{FF2B5EF4-FFF2-40B4-BE49-F238E27FC236}">
                <a16:creationId xmlns:a16="http://schemas.microsoft.com/office/drawing/2014/main" id="{B7EF726B-AF52-4CD3-642D-09C5399E1A1A}"/>
              </a:ext>
            </a:extLst>
          </p:cNvPr>
          <p:cNvSpPr/>
          <p:nvPr/>
        </p:nvSpPr>
        <p:spPr>
          <a:xfrm>
            <a:off x="5087112" y="4533900"/>
            <a:ext cx="841248" cy="155448"/>
          </a:xfrm>
          <a:prstGeom prst="roundRect">
            <a:avLst/>
          </a:prstGeom>
          <a:solidFill>
            <a:srgbClr val="EE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DB931A0-2AD7-F199-AAB4-EE2740EE00BA}"/>
              </a:ext>
            </a:extLst>
          </p:cNvPr>
          <p:cNvSpPr txBox="1"/>
          <p:nvPr/>
        </p:nvSpPr>
        <p:spPr>
          <a:xfrm>
            <a:off x="5105400" y="4561332"/>
            <a:ext cx="804672" cy="73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60" b="1">
                <a:solidFill>
                  <a:srgbClr val="684CA6"/>
                </a:solidFill>
                <a:latin typeface="Aptos"/>
              </a:rPr>
              <a:t>Trade-offs</a:t>
            </a:r>
          </a:p>
        </p:txBody>
      </p:sp>
      <p:sp>
        <p:nvSpPr>
          <p:cNvPr id="139" name="Rounded Rectangle 49">
            <a:extLst>
              <a:ext uri="{FF2B5EF4-FFF2-40B4-BE49-F238E27FC236}">
                <a16:creationId xmlns:a16="http://schemas.microsoft.com/office/drawing/2014/main" id="{0B8EEE76-A8D5-0A90-BC9F-5293B12A68C4}"/>
              </a:ext>
            </a:extLst>
          </p:cNvPr>
          <p:cNvSpPr/>
          <p:nvPr/>
        </p:nvSpPr>
        <p:spPr>
          <a:xfrm>
            <a:off x="266700" y="5162804"/>
            <a:ext cx="6344412" cy="183388"/>
          </a:xfrm>
          <a:prstGeom prst="roundRect">
            <a:avLst/>
          </a:prstGeom>
          <a:solidFill>
            <a:srgbClr val="F8FFFF"/>
          </a:solidFill>
          <a:ln w="7315">
            <a:solidFill>
              <a:srgbClr val="31B8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5447F200-FA86-A688-E311-361F9B8FE44C}"/>
              </a:ext>
            </a:extLst>
          </p:cNvPr>
          <p:cNvSpPr txBox="1"/>
          <p:nvPr/>
        </p:nvSpPr>
        <p:spPr>
          <a:xfrm>
            <a:off x="2357628" y="5155692"/>
            <a:ext cx="868680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dirty="0">
                <a:solidFill>
                  <a:srgbClr val="157475"/>
                </a:solidFill>
                <a:latin typeface="Aptos"/>
              </a:rPr>
              <a:t>▣ </a:t>
            </a:r>
            <a:r>
              <a:rPr sz="600" b="1" dirty="0" err="1">
                <a:solidFill>
                  <a:srgbClr val="157475"/>
                </a:solidFill>
                <a:latin typeface="Aptos"/>
              </a:rPr>
              <a:t>Supabase</a:t>
            </a:r>
            <a:endParaRPr sz="600" b="1" dirty="0">
              <a:solidFill>
                <a:srgbClr val="157475"/>
              </a:solidFill>
              <a:latin typeface="Aptos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0742B3FF-BC1F-CA87-C7CC-646E01F0F700}"/>
              </a:ext>
            </a:extLst>
          </p:cNvPr>
          <p:cNvSpPr txBox="1"/>
          <p:nvPr/>
        </p:nvSpPr>
        <p:spPr>
          <a:xfrm>
            <a:off x="3326892" y="5155692"/>
            <a:ext cx="91440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 dirty="0">
                <a:solidFill>
                  <a:srgbClr val="157475"/>
                </a:solidFill>
                <a:latin typeface="Aptos"/>
              </a:rPr>
              <a:t>▪ PostgreSQL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42E376C-0D5D-8707-B567-1FD11CDBECAC}"/>
              </a:ext>
            </a:extLst>
          </p:cNvPr>
          <p:cNvSpPr txBox="1"/>
          <p:nvPr/>
        </p:nvSpPr>
        <p:spPr>
          <a:xfrm>
            <a:off x="4341876" y="5155692"/>
            <a:ext cx="10972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1">
                <a:solidFill>
                  <a:srgbClr val="157475"/>
                </a:solidFill>
                <a:latin typeface="Aptos"/>
              </a:rPr>
              <a:t>● Row-Level Security</a:t>
            </a:r>
          </a:p>
        </p:txBody>
      </p:sp>
      <p:sp>
        <p:nvSpPr>
          <p:cNvPr id="147" name="Rounded Rectangle 53">
            <a:extLst>
              <a:ext uri="{FF2B5EF4-FFF2-40B4-BE49-F238E27FC236}">
                <a16:creationId xmlns:a16="http://schemas.microsoft.com/office/drawing/2014/main" id="{927F772E-A82E-DE32-B067-CEDB77F4DD4C}"/>
              </a:ext>
            </a:extLst>
          </p:cNvPr>
          <p:cNvSpPr/>
          <p:nvPr/>
        </p:nvSpPr>
        <p:spPr>
          <a:xfrm>
            <a:off x="7009892" y="1901952"/>
            <a:ext cx="1984757" cy="3904488"/>
          </a:xfrm>
          <a:prstGeom prst="roundRect">
            <a:avLst/>
          </a:prstGeom>
          <a:solidFill>
            <a:srgbClr val="FFF9F2"/>
          </a:solidFill>
          <a:ln w="7315">
            <a:solidFill>
              <a:srgbClr val="FF9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9DEFF7C-69A0-41A6-74DF-1189B5A00DDC}"/>
              </a:ext>
            </a:extLst>
          </p:cNvPr>
          <p:cNvSpPr txBox="1"/>
          <p:nvPr/>
        </p:nvSpPr>
        <p:spPr>
          <a:xfrm>
            <a:off x="7192772" y="2057400"/>
            <a:ext cx="15544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" b="1">
                <a:solidFill>
                  <a:srgbClr val="C14B11"/>
                </a:solidFill>
                <a:latin typeface="Aptos"/>
              </a:rPr>
              <a:t>♨  DEV &amp; DEPLOY</a:t>
            </a:r>
          </a:p>
        </p:txBody>
      </p:sp>
      <p:sp>
        <p:nvSpPr>
          <p:cNvPr id="151" name="Rounded Rectangle 55">
            <a:extLst>
              <a:ext uri="{FF2B5EF4-FFF2-40B4-BE49-F238E27FC236}">
                <a16:creationId xmlns:a16="http://schemas.microsoft.com/office/drawing/2014/main" id="{FE33A5ED-2257-3AC4-DC8A-44450689AB70}"/>
              </a:ext>
            </a:extLst>
          </p:cNvPr>
          <p:cNvSpPr/>
          <p:nvPr/>
        </p:nvSpPr>
        <p:spPr>
          <a:xfrm>
            <a:off x="7183628" y="2441448"/>
            <a:ext cx="1783080" cy="2286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F1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F7DCEFA-D7B9-CA7C-2A1F-8BEEED9968F4}"/>
              </a:ext>
            </a:extLst>
          </p:cNvPr>
          <p:cNvSpPr txBox="1"/>
          <p:nvPr/>
        </p:nvSpPr>
        <p:spPr>
          <a:xfrm>
            <a:off x="7311644" y="2496312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E4819"/>
                </a:solidFill>
                <a:latin typeface="Aptos"/>
              </a:rPr>
              <a:t>●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16DE9D5-8F1A-A659-76C7-5D530CEA823C}"/>
              </a:ext>
            </a:extLst>
          </p:cNvPr>
          <p:cNvSpPr txBox="1"/>
          <p:nvPr/>
        </p:nvSpPr>
        <p:spPr>
          <a:xfrm>
            <a:off x="7512812" y="2491740"/>
            <a:ext cx="114300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5F4B41"/>
                </a:solidFill>
                <a:latin typeface="Aptos"/>
              </a:rPr>
              <a:t>GitHub</a:t>
            </a:r>
          </a:p>
        </p:txBody>
      </p:sp>
      <p:sp>
        <p:nvSpPr>
          <p:cNvPr id="157" name="Rounded Rectangle 58">
            <a:extLst>
              <a:ext uri="{FF2B5EF4-FFF2-40B4-BE49-F238E27FC236}">
                <a16:creationId xmlns:a16="http://schemas.microsoft.com/office/drawing/2014/main" id="{5F2649FA-E2B3-1072-2654-E24A8B12DE24}"/>
              </a:ext>
            </a:extLst>
          </p:cNvPr>
          <p:cNvSpPr/>
          <p:nvPr/>
        </p:nvSpPr>
        <p:spPr>
          <a:xfrm>
            <a:off x="7183628" y="2816352"/>
            <a:ext cx="1783080" cy="2286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F1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4299F24-46AE-C79E-E676-36F541AAEB79}"/>
              </a:ext>
            </a:extLst>
          </p:cNvPr>
          <p:cNvSpPr txBox="1"/>
          <p:nvPr/>
        </p:nvSpPr>
        <p:spPr>
          <a:xfrm>
            <a:off x="7311644" y="2871216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E4819"/>
                </a:solidFill>
                <a:latin typeface="Aptos"/>
              </a:rPr>
              <a:t>➤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4B67F1E-F37C-781E-7CC9-98DDBAFF4B73}"/>
              </a:ext>
            </a:extLst>
          </p:cNvPr>
          <p:cNvSpPr txBox="1"/>
          <p:nvPr/>
        </p:nvSpPr>
        <p:spPr>
          <a:xfrm>
            <a:off x="7512812" y="2866644"/>
            <a:ext cx="114300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5F4B41"/>
                </a:solidFill>
                <a:latin typeface="Aptos"/>
              </a:rPr>
              <a:t>Postman</a:t>
            </a:r>
          </a:p>
        </p:txBody>
      </p:sp>
      <p:sp>
        <p:nvSpPr>
          <p:cNvPr id="163" name="Rounded Rectangle 61">
            <a:extLst>
              <a:ext uri="{FF2B5EF4-FFF2-40B4-BE49-F238E27FC236}">
                <a16:creationId xmlns:a16="http://schemas.microsoft.com/office/drawing/2014/main" id="{49B98398-9570-CCF1-D46E-805132A95D7D}"/>
              </a:ext>
            </a:extLst>
          </p:cNvPr>
          <p:cNvSpPr/>
          <p:nvPr/>
        </p:nvSpPr>
        <p:spPr>
          <a:xfrm>
            <a:off x="7183628" y="3191256"/>
            <a:ext cx="1783080" cy="228600"/>
          </a:xfrm>
          <a:prstGeom prst="roundRect">
            <a:avLst/>
          </a:prstGeom>
          <a:solidFill>
            <a:srgbClr val="FFFFFF"/>
          </a:solidFill>
          <a:ln w="7315">
            <a:solidFill>
              <a:srgbClr val="F1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E4BCC7A5-95A8-EDAC-C43B-88B29194CED1}"/>
              </a:ext>
            </a:extLst>
          </p:cNvPr>
          <p:cNvSpPr txBox="1"/>
          <p:nvPr/>
        </p:nvSpPr>
        <p:spPr>
          <a:xfrm>
            <a:off x="7311644" y="3246120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1">
                <a:solidFill>
                  <a:srgbClr val="BE4819"/>
                </a:solidFill>
                <a:latin typeface="Aptos"/>
              </a:rPr>
              <a:t>ϟ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1542B325-0E4C-7049-6369-2B7B41CAC7B7}"/>
              </a:ext>
            </a:extLst>
          </p:cNvPr>
          <p:cNvSpPr txBox="1"/>
          <p:nvPr/>
        </p:nvSpPr>
        <p:spPr>
          <a:xfrm>
            <a:off x="7512812" y="3241548"/>
            <a:ext cx="114300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60" b="0">
                <a:solidFill>
                  <a:srgbClr val="5F4B41"/>
                </a:solidFill>
                <a:latin typeface="Aptos"/>
              </a:rPr>
              <a:t>Vercel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534F662E-54C7-86E6-E606-C459B8873B55}"/>
              </a:ext>
            </a:extLst>
          </p:cNvPr>
          <p:cNvSpPr txBox="1"/>
          <p:nvPr/>
        </p:nvSpPr>
        <p:spPr>
          <a:xfrm>
            <a:off x="7192772" y="5452872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1" dirty="0">
                <a:solidFill>
                  <a:srgbClr val="AE4823"/>
                </a:solidFill>
                <a:latin typeface="Aptos"/>
              </a:rPr>
              <a:t>● Continuous CI/CD deployment
   with API contract validation.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2D2D2D"/>
                </a:solidFill>
                <a:latin typeface="Aptos"/>
              </a:rPr>
              <a:t>Hybrid Decision Model — Scoring +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ptos"/>
              </a:rPr>
              <a:t>Scoring decides the order. AI explains the order.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7490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64008" cy="342900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34289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Layer 1 — Deterministic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96312"/>
            <a:ext cx="3428999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• Validate inputs
• Normalize values
• Calculate weighted scores
• Generate ranking
• Expose score breakdown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965960"/>
            <a:ext cx="3977639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965960"/>
            <a:ext cx="64008" cy="3429000"/>
          </a:xfrm>
          <a:prstGeom prst="rect">
            <a:avLst/>
          </a:prstGeom>
          <a:solidFill>
            <a:srgbClr val="794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130552"/>
            <a:ext cx="36575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Layer 2 — Generative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96312"/>
            <a:ext cx="3657599" cy="2807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• Interpret structured results
• Explain trade-offs
• Summarize strengths and weaknesses
• Highlight assumptions
• Produce natural-language insights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5742432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4B00"/>
                </a:solidFill>
                <a:latin typeface="Aptos"/>
              </a:rPr>
              <a:t>AI does not silently replace the mathematical ranking.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2D2D2D"/>
                </a:solidFill>
                <a:latin typeface="Aptos"/>
              </a:rPr>
              <a:t>What-If Analysis &amp; Explainability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F5F5F"/>
                </a:solidFill>
                <a:latin typeface="Aptos"/>
              </a:rPr>
              <a:t>Let users test how changing priorities changes the outcome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3749039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64008" cy="324612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34289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Scenario A — Performance-focused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96312"/>
            <a:ext cx="3428999" cy="2624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Performance 40%
Battery 30%
Price 20%
Portability 10%
→ Recalculate → Ranking 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965960"/>
            <a:ext cx="3977639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0" y="1965960"/>
            <a:ext cx="64008" cy="3246120"/>
          </a:xfrm>
          <a:prstGeom prst="rect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73168" y="2130552"/>
            <a:ext cx="365759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Scenario B — Price-conscious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2496312"/>
            <a:ext cx="3657599" cy="2624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Performance 25%
Battery 25%
Price 40%
Portability 10%
→ Recalculate → Ranking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553212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4B00"/>
                </a:solidFill>
                <a:latin typeface="Aptos"/>
              </a:rPr>
              <a:t>Sensitivity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513832"/>
            <a:ext cx="6812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2D2D2D"/>
                </a:solidFill>
                <a:latin typeface="Aptos"/>
              </a:rPr>
              <a:t>Identify criteria whose weight changes can significantly affect the ranking.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1078992"/>
            <a:ext cx="8001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2D2D2D"/>
                </a:solidFill>
                <a:latin typeface="Aptos"/>
              </a:rPr>
              <a:t>Scope, Limitations, Roles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1572768"/>
            <a:ext cx="790956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dirty="0">
                <a:solidFill>
                  <a:srgbClr val="5F5F5F"/>
                </a:solidFill>
                <a:latin typeface="Aptos"/>
              </a:rPr>
              <a:t>A focused beta that is feasible for a </a:t>
            </a:r>
            <a:r>
              <a:rPr lang="en-US" sz="1150" dirty="0">
                <a:solidFill>
                  <a:srgbClr val="5F5F5F"/>
                </a:solidFill>
                <a:latin typeface="Aptos"/>
              </a:rPr>
              <a:t>four</a:t>
            </a:r>
            <a:r>
              <a:rPr sz="1150" b="0" dirty="0">
                <a:solidFill>
                  <a:srgbClr val="5F5F5F"/>
                </a:solidFill>
                <a:latin typeface="Aptos"/>
              </a:rPr>
              <a:t>-member team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64008" cy="1417320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Beta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404872"/>
            <a:ext cx="214884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Decision workspace • scoring • AI analysis • What-If • history • reports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493008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3493008"/>
            <a:ext cx="64008" cy="1417320"/>
          </a:xfrm>
          <a:prstGeom prst="rect">
            <a:avLst/>
          </a:prstGeom>
          <a:solidFill>
            <a:srgbClr val="215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657600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2D2D2D"/>
                </a:solidFill>
                <a:latin typeface="Aptos"/>
              </a:rPr>
              <a:t>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023359"/>
            <a:ext cx="2148840" cy="7955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F5F5F"/>
                </a:solidFill>
                <a:latin typeface="Aptos"/>
              </a:rPr>
              <a:t>User-provided/estimated inputs • no guaranteed prediction • decision-support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37432" y="1898903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F4B00"/>
                </a:solidFill>
                <a:latin typeface="Aptos"/>
              </a:rPr>
              <a:t>TEAM RESPONSIBILITIES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617464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4B00"/>
                </a:solidFill>
                <a:latin typeface="Aptos"/>
              </a:rPr>
              <a:t>Expected outcome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5590032"/>
            <a:ext cx="37033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D2D2D"/>
                </a:solidFill>
                <a:latin typeface="Aptos"/>
              </a:rPr>
              <a:t>A deployable beta providing personalized, transparent and explainable decision support.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D56BA4-EFB5-8940-A5E1-9ED95A671FD6}"/>
              </a:ext>
            </a:extLst>
          </p:cNvPr>
          <p:cNvSpPr txBox="1"/>
          <p:nvPr/>
        </p:nvSpPr>
        <p:spPr>
          <a:xfrm>
            <a:off x="3288792" y="2295144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B00"/>
                </a:solidFill>
                <a:latin typeface="Aptos"/>
              </a:rPr>
              <a:t>Member 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4A7163-9741-14C3-BE18-059BADBC1638}"/>
              </a:ext>
            </a:extLst>
          </p:cNvPr>
          <p:cNvSpPr txBox="1"/>
          <p:nvPr/>
        </p:nvSpPr>
        <p:spPr>
          <a:xfrm>
            <a:off x="4111752" y="2295144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303030"/>
                </a:solidFill>
                <a:latin typeface="Aptos"/>
              </a:rPr>
              <a:t>Frontend &amp; UI/UX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159EC5-368C-C550-9180-0234B3E16B1F}"/>
              </a:ext>
            </a:extLst>
          </p:cNvPr>
          <p:cNvSpPr txBox="1"/>
          <p:nvPr/>
        </p:nvSpPr>
        <p:spPr>
          <a:xfrm>
            <a:off x="4111752" y="2517648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dirty="0">
                <a:solidFill>
                  <a:srgbClr val="646464"/>
                </a:solidFill>
                <a:latin typeface="Aptos"/>
              </a:rPr>
              <a:t>React • TypeScript • Tailwind • decision workspace • dashboard • visualizations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543B980-7068-BFAE-A9AA-6A30AD7E03C5}"/>
              </a:ext>
            </a:extLst>
          </p:cNvPr>
          <p:cNvSpPr txBox="1"/>
          <p:nvPr/>
        </p:nvSpPr>
        <p:spPr>
          <a:xfrm>
            <a:off x="3288792" y="3172968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B00"/>
                </a:solidFill>
                <a:latin typeface="Aptos"/>
              </a:rPr>
              <a:t>Member 2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C38BD6C-4870-2954-CD75-68149FDE6B56}"/>
              </a:ext>
            </a:extLst>
          </p:cNvPr>
          <p:cNvSpPr txBox="1"/>
          <p:nvPr/>
        </p:nvSpPr>
        <p:spPr>
          <a:xfrm>
            <a:off x="4111752" y="3172968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303030"/>
                </a:solidFill>
                <a:latin typeface="Aptos"/>
              </a:rPr>
              <a:t>Backend &amp; Database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DA0936-E6A4-D046-7596-C52ECC022016}"/>
              </a:ext>
            </a:extLst>
          </p:cNvPr>
          <p:cNvSpPr txBox="1"/>
          <p:nvPr/>
        </p:nvSpPr>
        <p:spPr>
          <a:xfrm>
            <a:off x="4111752" y="3419856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dirty="0">
                <a:solidFill>
                  <a:srgbClr val="646464"/>
                </a:solidFill>
                <a:latin typeface="Aptos"/>
              </a:rPr>
              <a:t>Node.js • Express • REST APIs • </a:t>
            </a:r>
            <a:r>
              <a:rPr sz="819" b="0" dirty="0" err="1">
                <a:solidFill>
                  <a:srgbClr val="646464"/>
                </a:solidFill>
                <a:latin typeface="Aptos"/>
              </a:rPr>
              <a:t>Supabase</a:t>
            </a:r>
            <a:r>
              <a:rPr sz="819" b="0" dirty="0">
                <a:solidFill>
                  <a:srgbClr val="646464"/>
                </a:solidFill>
                <a:latin typeface="Aptos"/>
              </a:rPr>
              <a:t> • PostgreSQL • authentication • validation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3D9645-8B0C-C9F0-394D-999D454F505C}"/>
              </a:ext>
            </a:extLst>
          </p:cNvPr>
          <p:cNvSpPr txBox="1"/>
          <p:nvPr/>
        </p:nvSpPr>
        <p:spPr>
          <a:xfrm>
            <a:off x="3288792" y="4002024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dirty="0">
                <a:solidFill>
                  <a:srgbClr val="FF4B00"/>
                </a:solidFill>
                <a:latin typeface="Aptos"/>
              </a:rPr>
              <a:t>Member 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8246421-7C29-57FA-C0F8-21AF8155E84B}"/>
              </a:ext>
            </a:extLst>
          </p:cNvPr>
          <p:cNvSpPr txBox="1"/>
          <p:nvPr/>
        </p:nvSpPr>
        <p:spPr>
          <a:xfrm>
            <a:off x="4111752" y="3989832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303030"/>
                </a:solidFill>
                <a:latin typeface="Aptos"/>
              </a:rPr>
              <a:t>Decision Engine &amp; What-If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5E3D02F-A263-3BF5-7030-C48AF9B85388}"/>
              </a:ext>
            </a:extLst>
          </p:cNvPr>
          <p:cNvSpPr txBox="1"/>
          <p:nvPr/>
        </p:nvSpPr>
        <p:spPr>
          <a:xfrm>
            <a:off x="4111752" y="4261103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46464"/>
                </a:solidFill>
                <a:latin typeface="Aptos"/>
              </a:rPr>
              <a:t>Normalization • weighted scoring • ranking • sensitivity analysis • recalculation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09FBAF1-20D7-CB56-5D3D-56EB06DB673E}"/>
              </a:ext>
            </a:extLst>
          </p:cNvPr>
          <p:cNvSpPr txBox="1"/>
          <p:nvPr/>
        </p:nvSpPr>
        <p:spPr>
          <a:xfrm>
            <a:off x="3288792" y="4879848"/>
            <a:ext cx="7498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4B00"/>
                </a:solidFill>
                <a:latin typeface="Aptos"/>
              </a:rPr>
              <a:t>Member 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716D147-382C-141C-F0D1-F8F6B25906B2}"/>
              </a:ext>
            </a:extLst>
          </p:cNvPr>
          <p:cNvSpPr txBox="1"/>
          <p:nvPr/>
        </p:nvSpPr>
        <p:spPr>
          <a:xfrm>
            <a:off x="4111752" y="4892040"/>
            <a:ext cx="242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303030"/>
                </a:solidFill>
                <a:latin typeface="Aptos"/>
              </a:rPr>
              <a:t>AI Integration &amp; Deployment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31DC0B5-96D5-3D56-B602-9B3A38F6F97E}"/>
              </a:ext>
            </a:extLst>
          </p:cNvPr>
          <p:cNvSpPr txBox="1"/>
          <p:nvPr/>
        </p:nvSpPr>
        <p:spPr>
          <a:xfrm>
            <a:off x="4111752" y="5163312"/>
            <a:ext cx="51663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46464"/>
                </a:solidFill>
                <a:latin typeface="Aptos"/>
              </a:rPr>
              <a:t>Generative AI • explanations • trade-off insights • reports • cloud deployment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86384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FF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hitkar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164592"/>
            <a:ext cx="1755648" cy="6583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1828800"/>
            <a:ext cx="7772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2D2D2D"/>
                </a:solidFill>
                <a:latin typeface="Apto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542032"/>
            <a:ext cx="74980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4B00"/>
                </a:solidFill>
                <a:latin typeface="Aptos"/>
              </a:rPr>
              <a:t>Transparent decisions. Explainable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246120"/>
            <a:ext cx="7680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D2D2D"/>
                </a:solidFill>
                <a:latin typeface="Aptos"/>
              </a:rPr>
              <a:t>Define  →  Prioritize  →  Evaluate  →  Explain  →  Test What-If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425196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2D2D2D"/>
                </a:solidFill>
                <a:latin typeface="Aptos"/>
              </a:rP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892040"/>
            <a:ext cx="64008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dirty="0">
                <a:solidFill>
                  <a:srgbClr val="5F5F5F"/>
                </a:solidFill>
                <a:latin typeface="Aptos"/>
              </a:rPr>
              <a:t>Chirayu Mitra  •  Rhythm Gaur  •  Shubhank Gaur</a:t>
            </a:r>
            <a:r>
              <a:rPr lang="en-US" sz="1000" dirty="0">
                <a:solidFill>
                  <a:srgbClr val="5F5F5F"/>
                </a:solidFill>
                <a:latin typeface="Aptos"/>
              </a:rPr>
              <a:t> •  Yash Vardhan Singh</a:t>
            </a:r>
            <a:endParaRPr sz="1000" b="0" dirty="0">
              <a:solidFill>
                <a:srgbClr val="5F5F5F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882</Words>
  <Application>Microsoft Office PowerPoint</Application>
  <PresentationFormat>On-screen Show (4:3)</PresentationFormat>
  <Paragraphs>184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Shubhank Gaur</cp:lastModifiedBy>
  <cp:revision>16</cp:revision>
  <dcterms:created xsi:type="dcterms:W3CDTF">2013-01-27T09:14:16Z</dcterms:created>
  <dcterms:modified xsi:type="dcterms:W3CDTF">2026-09-07T06:36:07Z</dcterms:modified>
  <cp:category/>
</cp:coreProperties>
</file>